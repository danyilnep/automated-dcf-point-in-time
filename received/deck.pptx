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4" r:id="rId5"/>
    <p:sldId id="263" r:id="rId6"/>
    <p:sldId id="259" r:id="rId7"/>
    <p:sldId id="260" r:id="rId8"/>
    <p:sldId id="261"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380" y="39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EF0ED2-0F02-4670-9103-3EF9D47AF1ED}" type="datetimeFigureOut">
              <a:rPr lang="en-GB" smtClean="0"/>
              <a:t>04/04/2024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E5AE912-75E9-45BB-A445-EE0A64AFD7CB}" type="slidenum">
              <a:rPr lang="en-GB" smtClean="0"/>
              <a:t>‹#›</a:t>
            </a:fld>
            <a:endParaRPr lang="en-GB"/>
          </a:p>
        </p:txBody>
      </p:sp>
    </p:spTree>
    <p:extLst>
      <p:ext uri="{BB962C8B-B14F-4D97-AF65-F5344CB8AC3E}">
        <p14:creationId xmlns:p14="http://schemas.microsoft.com/office/powerpoint/2010/main" val="3283831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EF0ED2-0F02-4670-9103-3EF9D47AF1ED}" type="datetimeFigureOut">
              <a:rPr lang="en-GB" smtClean="0"/>
              <a:t>04/04/2024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E5AE912-75E9-45BB-A445-EE0A64AFD7CB}" type="slidenum">
              <a:rPr lang="en-GB" smtClean="0"/>
              <a:t>‹#›</a:t>
            </a:fld>
            <a:endParaRPr lang="en-GB"/>
          </a:p>
        </p:txBody>
      </p:sp>
    </p:spTree>
    <p:extLst>
      <p:ext uri="{BB962C8B-B14F-4D97-AF65-F5344CB8AC3E}">
        <p14:creationId xmlns:p14="http://schemas.microsoft.com/office/powerpoint/2010/main" val="4022248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F0ED2-0F02-4670-9103-3EF9D47AF1ED}" type="datetimeFigureOut">
              <a:rPr lang="en-GB" smtClean="0"/>
              <a:t>04/04/2024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E5AE912-75E9-45BB-A445-EE0A64AFD7CB}" type="slidenum">
              <a:rPr lang="en-GB" smtClean="0"/>
              <a:t>‹#›</a:t>
            </a:fld>
            <a:endParaRPr lang="en-GB"/>
          </a:p>
        </p:txBody>
      </p:sp>
    </p:spTree>
    <p:extLst>
      <p:ext uri="{BB962C8B-B14F-4D97-AF65-F5344CB8AC3E}">
        <p14:creationId xmlns:p14="http://schemas.microsoft.com/office/powerpoint/2010/main" val="1489615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EF0ED2-0F02-4670-9103-3EF9D47AF1ED}" type="datetimeFigureOut">
              <a:rPr lang="en-GB" smtClean="0"/>
              <a:t>04/04/2024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E5AE912-75E9-45BB-A445-EE0A64AFD7CB}" type="slidenum">
              <a:rPr lang="en-GB" smtClean="0"/>
              <a:t>‹#›</a:t>
            </a:fld>
            <a:endParaRPr lang="en-GB"/>
          </a:p>
        </p:txBody>
      </p:sp>
    </p:spTree>
    <p:extLst>
      <p:ext uri="{BB962C8B-B14F-4D97-AF65-F5344CB8AC3E}">
        <p14:creationId xmlns:p14="http://schemas.microsoft.com/office/powerpoint/2010/main" val="252216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EF0ED2-0F02-4670-9103-3EF9D47AF1ED}" type="datetimeFigureOut">
              <a:rPr lang="en-GB" smtClean="0"/>
              <a:t>04/04/2024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E5AE912-75E9-45BB-A445-EE0A64AFD7CB}" type="slidenum">
              <a:rPr lang="en-GB" smtClean="0"/>
              <a:t>‹#›</a:t>
            </a:fld>
            <a:endParaRPr lang="en-GB"/>
          </a:p>
        </p:txBody>
      </p:sp>
    </p:spTree>
    <p:extLst>
      <p:ext uri="{BB962C8B-B14F-4D97-AF65-F5344CB8AC3E}">
        <p14:creationId xmlns:p14="http://schemas.microsoft.com/office/powerpoint/2010/main" val="2227649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EF0ED2-0F02-4670-9103-3EF9D47AF1ED}" type="datetimeFigureOut">
              <a:rPr lang="en-GB" smtClean="0"/>
              <a:t>04/04/2024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E5AE912-75E9-45BB-A445-EE0A64AFD7CB}" type="slidenum">
              <a:rPr lang="en-GB" smtClean="0"/>
              <a:t>‹#›</a:t>
            </a:fld>
            <a:endParaRPr lang="en-GB"/>
          </a:p>
        </p:txBody>
      </p:sp>
    </p:spTree>
    <p:extLst>
      <p:ext uri="{BB962C8B-B14F-4D97-AF65-F5344CB8AC3E}">
        <p14:creationId xmlns:p14="http://schemas.microsoft.com/office/powerpoint/2010/main" val="1457380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EF0ED2-0F02-4670-9103-3EF9D47AF1ED}" type="datetimeFigureOut">
              <a:rPr lang="en-GB" smtClean="0"/>
              <a:t>04/04/2024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E5AE912-75E9-45BB-A445-EE0A64AFD7CB}" type="slidenum">
              <a:rPr lang="en-GB" smtClean="0"/>
              <a:t>‹#›</a:t>
            </a:fld>
            <a:endParaRPr lang="en-GB"/>
          </a:p>
        </p:txBody>
      </p:sp>
    </p:spTree>
    <p:extLst>
      <p:ext uri="{BB962C8B-B14F-4D97-AF65-F5344CB8AC3E}">
        <p14:creationId xmlns:p14="http://schemas.microsoft.com/office/powerpoint/2010/main" val="2728216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EF0ED2-0F02-4670-9103-3EF9D47AF1ED}" type="datetimeFigureOut">
              <a:rPr lang="en-GB" smtClean="0"/>
              <a:t>04/04/2024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E5AE912-75E9-45BB-A445-EE0A64AFD7CB}" type="slidenum">
              <a:rPr lang="en-GB" smtClean="0"/>
              <a:t>‹#›</a:t>
            </a:fld>
            <a:endParaRPr lang="en-GB"/>
          </a:p>
        </p:txBody>
      </p:sp>
    </p:spTree>
    <p:extLst>
      <p:ext uri="{BB962C8B-B14F-4D97-AF65-F5344CB8AC3E}">
        <p14:creationId xmlns:p14="http://schemas.microsoft.com/office/powerpoint/2010/main" val="2784384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EF0ED2-0F02-4670-9103-3EF9D47AF1ED}" type="datetimeFigureOut">
              <a:rPr lang="en-GB" smtClean="0"/>
              <a:t>04/04/2024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E5AE912-75E9-45BB-A445-EE0A64AFD7CB}" type="slidenum">
              <a:rPr lang="en-GB" smtClean="0"/>
              <a:t>‹#›</a:t>
            </a:fld>
            <a:endParaRPr lang="en-GB"/>
          </a:p>
        </p:txBody>
      </p:sp>
    </p:spTree>
    <p:extLst>
      <p:ext uri="{BB962C8B-B14F-4D97-AF65-F5344CB8AC3E}">
        <p14:creationId xmlns:p14="http://schemas.microsoft.com/office/powerpoint/2010/main" val="4195794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EF0ED2-0F02-4670-9103-3EF9D47AF1ED}" type="datetimeFigureOut">
              <a:rPr lang="en-GB" smtClean="0"/>
              <a:t>04/04/2024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E5AE912-75E9-45BB-A445-EE0A64AFD7CB}" type="slidenum">
              <a:rPr lang="en-GB" smtClean="0"/>
              <a:t>‹#›</a:t>
            </a:fld>
            <a:endParaRPr lang="en-GB"/>
          </a:p>
        </p:txBody>
      </p:sp>
    </p:spTree>
    <p:extLst>
      <p:ext uri="{BB962C8B-B14F-4D97-AF65-F5344CB8AC3E}">
        <p14:creationId xmlns:p14="http://schemas.microsoft.com/office/powerpoint/2010/main" val="4018339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EF0ED2-0F02-4670-9103-3EF9D47AF1ED}" type="datetimeFigureOut">
              <a:rPr lang="en-GB" smtClean="0"/>
              <a:t>04/04/2024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E5AE912-75E9-45BB-A445-EE0A64AFD7CB}" type="slidenum">
              <a:rPr lang="en-GB" smtClean="0"/>
              <a:t>‹#›</a:t>
            </a:fld>
            <a:endParaRPr lang="en-GB"/>
          </a:p>
        </p:txBody>
      </p:sp>
    </p:spTree>
    <p:extLst>
      <p:ext uri="{BB962C8B-B14F-4D97-AF65-F5344CB8AC3E}">
        <p14:creationId xmlns:p14="http://schemas.microsoft.com/office/powerpoint/2010/main" val="2758679979"/>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87EF0ED2-0F02-4670-9103-3EF9D47AF1ED}" type="datetimeFigureOut">
              <a:rPr lang="en-GB" smtClean="0"/>
              <a:t>04/04/2024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2E5AE912-75E9-45BB-A445-EE0A64AFD7CB}" type="slidenum">
              <a:rPr lang="en-GB" smtClean="0"/>
              <a:t>‹#›</a:t>
            </a:fld>
            <a:endParaRPr lang="en-GB"/>
          </a:p>
        </p:txBody>
      </p:sp>
    </p:spTree>
    <p:extLst>
      <p:ext uri="{BB962C8B-B14F-4D97-AF65-F5344CB8AC3E}">
        <p14:creationId xmlns:p14="http://schemas.microsoft.com/office/powerpoint/2010/main" val="206935886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4DFCE-0729-3EB3-B745-507FD9CDA44F}"/>
              </a:ext>
            </a:extLst>
          </p:cNvPr>
          <p:cNvSpPr>
            <a:spLocks noGrp="1"/>
          </p:cNvSpPr>
          <p:nvPr>
            <p:ph type="ctrTitle"/>
          </p:nvPr>
        </p:nvSpPr>
        <p:spPr/>
        <p:txBody>
          <a:bodyPr/>
          <a:lstStyle/>
          <a:p>
            <a:r>
              <a:rPr lang="en-GB" dirty="0"/>
              <a:t>Automated fundamental analysis in quant</a:t>
            </a:r>
          </a:p>
        </p:txBody>
      </p:sp>
      <p:sp>
        <p:nvSpPr>
          <p:cNvPr id="3" name="Subtitle 2">
            <a:extLst>
              <a:ext uri="{FF2B5EF4-FFF2-40B4-BE49-F238E27FC236}">
                <a16:creationId xmlns:a16="http://schemas.microsoft.com/office/drawing/2014/main" id="{2078A60E-2383-8EA5-BF2D-071876D3B1B9}"/>
              </a:ext>
            </a:extLst>
          </p:cNvPr>
          <p:cNvSpPr>
            <a:spLocks noGrp="1"/>
          </p:cNvSpPr>
          <p:nvPr>
            <p:ph type="subTitle" idx="1"/>
          </p:nvPr>
        </p:nvSpPr>
        <p:spPr/>
        <p:txBody>
          <a:bodyPr/>
          <a:lstStyle/>
          <a:p>
            <a:r>
              <a:rPr lang="en-GB" dirty="0"/>
              <a:t>MCM QUANT - </a:t>
            </a:r>
            <a:r>
              <a:rPr lang="en-GB" dirty="0" err="1"/>
              <a:t>Danyil</a:t>
            </a:r>
            <a:r>
              <a:rPr lang="en-GB" dirty="0"/>
              <a:t/>
            </a:r>
          </a:p>
        </p:txBody>
      </p:sp>
    </p:spTree>
    <p:extLst>
      <p:ext uri="{BB962C8B-B14F-4D97-AF65-F5344CB8AC3E}">
        <p14:creationId xmlns:p14="http://schemas.microsoft.com/office/powerpoint/2010/main" val="934822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C4F44-EBE2-9573-7DD4-B67EB0A4C3B1}"/>
              </a:ext>
            </a:extLst>
          </p:cNvPr>
          <p:cNvSpPr>
            <a:spLocks noGrp="1"/>
          </p:cNvSpPr>
          <p:nvPr>
            <p:ph type="title"/>
          </p:nvPr>
        </p:nvSpPr>
        <p:spPr>
          <a:xfrm>
            <a:off x="6657715" y="467271"/>
            <a:ext cx="4195674" cy="2052522"/>
          </a:xfrm>
        </p:spPr>
        <p:txBody>
          <a:bodyPr anchor="b">
            <a:normAutofit/>
          </a:bodyPr>
          <a:lstStyle/>
          <a:p>
            <a:r>
              <a:rPr lang="en-US" sz="4300"/>
              <a:t>Setting the Stage: Purpose &amp; Strategy Snapshot</a:t>
            </a:r>
            <a:endParaRPr lang="en-GB" sz="4300"/>
          </a:p>
        </p:txBody>
      </p:sp>
      <p:sp>
        <p:nvSpPr>
          <p:cNvPr id="3" name="Content Placeholder 2">
            <a:extLst>
              <a:ext uri="{FF2B5EF4-FFF2-40B4-BE49-F238E27FC236}">
                <a16:creationId xmlns:a16="http://schemas.microsoft.com/office/drawing/2014/main" id="{5544FDF2-6996-5659-637A-621E345CEB2C}"/>
              </a:ext>
            </a:extLst>
          </p:cNvPr>
          <p:cNvSpPr>
            <a:spLocks noGrp="1"/>
          </p:cNvSpPr>
          <p:nvPr>
            <p:ph idx="1"/>
          </p:nvPr>
        </p:nvSpPr>
        <p:spPr>
          <a:xfrm>
            <a:off x="6657715" y="2990818"/>
            <a:ext cx="4195673" cy="2913872"/>
          </a:xfrm>
        </p:spPr>
        <p:txBody>
          <a:bodyPr anchor="t">
            <a:normAutofit/>
          </a:bodyPr>
          <a:lstStyle/>
          <a:p>
            <a:pPr marL="0" indent="0">
              <a:buNone/>
            </a:pPr>
            <a:r>
              <a:rPr lang="en-GB" sz="2400" dirty="0">
                <a:solidFill>
                  <a:schemeClr val="tx1">
                    <a:alpha val="80000"/>
                  </a:schemeClr>
                </a:solidFill>
              </a:rPr>
              <a:t>Idea of the strategy is to find undervalued stocks and trade on their fair value doing all of it </a:t>
            </a:r>
            <a:r>
              <a:rPr lang="en-GB" sz="2400" b="1" dirty="0">
                <a:solidFill>
                  <a:schemeClr val="tx1">
                    <a:alpha val="80000"/>
                  </a:schemeClr>
                </a:solidFill>
              </a:rPr>
              <a:t>AUTOMATICALLY </a:t>
            </a:r>
            <a:r>
              <a:rPr lang="en-GB" sz="2400" dirty="0">
                <a:solidFill>
                  <a:schemeClr val="tx1">
                    <a:alpha val="80000"/>
                  </a:schemeClr>
                </a:solidFill>
              </a:rPr>
              <a:t>.</a:t>
            </a:r>
            <a:endParaRPr lang="en-GB" sz="2400" b="1" dirty="0">
              <a:solidFill>
                <a:schemeClr val="tx1">
                  <a:alpha val="80000"/>
                </a:schemeClr>
              </a:solidFill>
            </a:endParaRPr>
          </a:p>
        </p:txBody>
      </p:sp>
      <p:pic>
        <p:nvPicPr>
          <p:cNvPr id="7" name="Picture 6" descr="A person typing on a keyboard&#10;&#10;Description automatically generated">
            <a:extLst>
              <a:ext uri="{FF2B5EF4-FFF2-40B4-BE49-F238E27FC236}">
                <a16:creationId xmlns:a16="http://schemas.microsoft.com/office/drawing/2014/main" id="{E07C8F14-D1D1-B3A8-7254-2C89203080B4}"/>
              </a:ext>
            </a:extLst>
          </p:cNvPr>
          <p:cNvPicPr>
            <a:picLocks noChangeAspect="1"/>
          </p:cNvPicPr>
          <p:nvPr/>
        </p:nvPicPr>
        <p:blipFill rotWithShape="1">
          <a:blip r:embed="rId2">
            <a:extLst>
              <a:ext uri="{28A0092B-C50C-407E-A947-70E740481C1C}">
                <a14:useLocalDpi xmlns:a14="http://schemas.microsoft.com/office/drawing/2010/main" val="0"/>
              </a:ext>
            </a:extLst>
          </a:blip>
          <a:srcRect r="-3" b="-3"/>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 name="AutoShape 2" descr="Create an image that represents quantitative finance. The image should illustrate elements such as mathematical formulas, financial charts, computer screens with complex models, and digital data streams. The design should be sophisticated and convey the high-tech, analytical nature of quantitative finance, suitable for a professional presentation. This image should be detailed enough to stand alone as a representation of the quant field, yet simple enough to complement text on a slide, without overwhelming it.">
            <a:extLst>
              <a:ext uri="{FF2B5EF4-FFF2-40B4-BE49-F238E27FC236}">
                <a16:creationId xmlns:a16="http://schemas.microsoft.com/office/drawing/2014/main" id="{CF50B2FC-DEF1-BEDB-379B-D244EFA3167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022369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95CCF-C95A-2877-9917-EA6B10BE42F4}"/>
              </a:ext>
            </a:extLst>
          </p:cNvPr>
          <p:cNvSpPr>
            <a:spLocks noGrp="1"/>
          </p:cNvSpPr>
          <p:nvPr>
            <p:ph type="title"/>
          </p:nvPr>
        </p:nvSpPr>
        <p:spPr>
          <a:xfrm>
            <a:off x="838201" y="365125"/>
            <a:ext cx="3816095" cy="1938076"/>
          </a:xfrm>
        </p:spPr>
        <p:txBody>
          <a:bodyPr>
            <a:normAutofit/>
          </a:bodyPr>
          <a:lstStyle/>
          <a:p>
            <a:r>
              <a:rPr lang="en-GB" dirty="0"/>
              <a:t>How it works?</a:t>
            </a:r>
          </a:p>
        </p:txBody>
      </p:sp>
      <p:sp>
        <p:nvSpPr>
          <p:cNvPr id="3" name="Content Placeholder 2">
            <a:extLst>
              <a:ext uri="{FF2B5EF4-FFF2-40B4-BE49-F238E27FC236}">
                <a16:creationId xmlns:a16="http://schemas.microsoft.com/office/drawing/2014/main" id="{F37CF9F9-539D-1B79-6248-3C533ADE4253}"/>
              </a:ext>
            </a:extLst>
          </p:cNvPr>
          <p:cNvSpPr>
            <a:spLocks noGrp="1"/>
          </p:cNvSpPr>
          <p:nvPr>
            <p:ph idx="1"/>
          </p:nvPr>
        </p:nvSpPr>
        <p:spPr>
          <a:xfrm>
            <a:off x="838201" y="2482589"/>
            <a:ext cx="3816096" cy="3694373"/>
          </a:xfrm>
        </p:spPr>
        <p:txBody>
          <a:bodyPr>
            <a:normAutofit/>
          </a:bodyPr>
          <a:lstStyle/>
          <a:p>
            <a:r>
              <a:rPr lang="en-GB" sz="2000" dirty="0"/>
              <a:t>Algorithm takes data about companies from Yahoo finance API. </a:t>
            </a:r>
          </a:p>
          <a:p>
            <a:r>
              <a:rPr lang="en-GB" sz="2000" dirty="0"/>
              <a:t>Calculates DCF of the company using multiple EBITDA methodology.</a:t>
            </a:r>
          </a:p>
          <a:p>
            <a:r>
              <a:rPr lang="en-GB" sz="2000" dirty="0"/>
              <a:t> Returns a fair value of the stock. </a:t>
            </a:r>
          </a:p>
          <a:p>
            <a:r>
              <a:rPr lang="en-GB" sz="2000" dirty="0"/>
              <a:t>This information goes to QC, where it is being processed and </a:t>
            </a:r>
            <a:r>
              <a:rPr lang="en-GB" sz="2000" dirty="0" err="1"/>
              <a:t>backtested</a:t>
            </a:r>
            <a:endParaRPr lang="en-GB" sz="2000" dirty="0"/>
          </a:p>
        </p:txBody>
      </p:sp>
      <p:pic>
        <p:nvPicPr>
          <p:cNvPr id="7" name="Picture 6" descr="A computer and laptops with graphs and charts&#10;&#10;Description automatically generated">
            <a:extLst>
              <a:ext uri="{FF2B5EF4-FFF2-40B4-BE49-F238E27FC236}">
                <a16:creationId xmlns:a16="http://schemas.microsoft.com/office/drawing/2014/main" id="{B6523948-6BCD-500B-0E58-9C9ED0C68797}"/>
              </a:ext>
            </a:extLst>
          </p:cNvPr>
          <p:cNvPicPr>
            <a:picLocks noChangeAspect="1"/>
          </p:cNvPicPr>
          <p:nvPr/>
        </p:nvPicPr>
        <p:blipFill rotWithShape="1">
          <a:blip r:embed="rId2">
            <a:extLst>
              <a:ext uri="{28A0092B-C50C-407E-A947-70E740481C1C}">
                <a14:useLocalDpi xmlns:a14="http://schemas.microsoft.com/office/drawing/2010/main" val="0"/>
              </a:ext>
            </a:extLst>
          </a:blip>
          <a:srcRect t="30064" r="-1" b="19242"/>
          <a:stretch/>
        </p:blipFill>
        <p:spPr>
          <a:xfrm>
            <a:off x="4904316" y="-4"/>
            <a:ext cx="7287684" cy="3694372"/>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p:spPr>
      </p:pic>
      <p:pic>
        <p:nvPicPr>
          <p:cNvPr id="2050" name="Picture 2" descr="Yahoo Finance API and Alternatives ...">
            <a:extLst>
              <a:ext uri="{FF2B5EF4-FFF2-40B4-BE49-F238E27FC236}">
                <a16:creationId xmlns:a16="http://schemas.microsoft.com/office/drawing/2014/main" id="{198CB570-8E4B-92F4-F66F-585100B2FE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149" r="-2" b="6094"/>
          <a:stretch/>
        </p:blipFill>
        <p:spPr bwMode="auto">
          <a:xfrm>
            <a:off x="5488728" y="3802957"/>
            <a:ext cx="7472381" cy="3055043"/>
          </a:xfrm>
          <a:custGeom>
            <a:avLst/>
            <a:gdLst/>
            <a:ahLst/>
            <a:cxnLst/>
            <a:rect l="l" t="t" r="r" b="b"/>
            <a:pathLst>
              <a:path w="7472381" h="3055043">
                <a:moveTo>
                  <a:pt x="638975" y="0"/>
                </a:moveTo>
                <a:lnTo>
                  <a:pt x="7472381" y="0"/>
                </a:lnTo>
                <a:lnTo>
                  <a:pt x="7472381" y="2579984"/>
                </a:lnTo>
                <a:lnTo>
                  <a:pt x="7472381" y="3055043"/>
                </a:lnTo>
                <a:lnTo>
                  <a:pt x="6992676"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6555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33874B7-8B76-47EF-8B5D-0CD9B154728E}"/>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dirty="0">
                <a:solidFill>
                  <a:schemeClr val="tx1"/>
                </a:solidFill>
                <a:latin typeface="+mj-lt"/>
                <a:ea typeface="+mj-ea"/>
                <a:cs typeface="+mj-cs"/>
              </a:rPr>
              <a:t>Practice </a:t>
            </a:r>
            <a:r>
              <a:rPr lang="en-US" sz="4800" dirty="0"/>
              <a:t>1</a:t>
            </a:r>
            <a:r>
              <a:rPr lang="en-US" sz="4800" kern="1200" dirty="0">
                <a:solidFill>
                  <a:schemeClr val="tx1"/>
                </a:solidFill>
                <a:latin typeface="+mj-lt"/>
                <a:ea typeface="+mj-ea"/>
                <a:cs typeface="+mj-cs"/>
              </a:rPr>
              <a:t>: </a:t>
            </a:r>
            <a:br>
              <a:rPr lang="en-US" sz="4800" kern="1200" dirty="0">
                <a:solidFill>
                  <a:schemeClr val="tx1"/>
                </a:solidFill>
                <a:latin typeface="+mj-lt"/>
                <a:ea typeface="+mj-ea"/>
                <a:cs typeface="+mj-cs"/>
              </a:rPr>
            </a:br>
            <a:r>
              <a:rPr lang="en-US" sz="4800" kern="1200" dirty="0">
                <a:solidFill>
                  <a:schemeClr val="tx1"/>
                </a:solidFill>
                <a:latin typeface="+mj-lt"/>
                <a:ea typeface="+mj-ea"/>
                <a:cs typeface="+mj-cs"/>
              </a:rPr>
              <a:t>Getting the data</a:t>
            </a:r>
          </a:p>
        </p:txBody>
      </p:sp>
      <p:sp>
        <p:nvSpPr>
          <p:cNvPr id="18" name="Rectangle 1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32D311B5-74A5-4726-9A70-5A083FFDAD92}"/>
              </a:ext>
            </a:extLst>
          </p:cNvPr>
          <p:cNvPicPr>
            <a:picLocks noGrp="1" noChangeAspect="1"/>
          </p:cNvPicPr>
          <p:nvPr>
            <p:ph idx="1"/>
          </p:nvPr>
        </p:nvPicPr>
        <p:blipFill>
          <a:blip r:embed="rId2"/>
          <a:stretch>
            <a:fillRect/>
          </a:stretch>
        </p:blipFill>
        <p:spPr>
          <a:xfrm>
            <a:off x="5918361" y="625684"/>
            <a:ext cx="5400825" cy="5455380"/>
          </a:xfrm>
          <a:prstGeom prst="rect">
            <a:avLst/>
          </a:prstGeom>
        </p:spPr>
      </p:pic>
    </p:spTree>
    <p:extLst>
      <p:ext uri="{BB962C8B-B14F-4D97-AF65-F5344CB8AC3E}">
        <p14:creationId xmlns:p14="http://schemas.microsoft.com/office/powerpoint/2010/main" val="3117464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9">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1F6E225-331C-5F5B-F58D-E87C2F4073D2}"/>
              </a:ext>
            </a:extLst>
          </p:cNvPr>
          <p:cNvSpPr>
            <a:spLocks noGrp="1"/>
          </p:cNvSpPr>
          <p:nvPr>
            <p:ph type="title"/>
          </p:nvPr>
        </p:nvSpPr>
        <p:spPr>
          <a:xfrm>
            <a:off x="477981" y="1122363"/>
            <a:ext cx="4212552" cy="3204134"/>
          </a:xfrm>
          <a:prstGeom prst="ellipse">
            <a:avLst/>
          </a:prstGeom>
        </p:spPr>
        <p:txBody>
          <a:bodyPr vert="horz" lIns="91440" tIns="45720" rIns="91440" bIns="45720" rtlCol="0" anchor="b">
            <a:normAutofit/>
          </a:bodyPr>
          <a:lstStyle/>
          <a:p>
            <a:r>
              <a:rPr lang="en-US" sz="4800" kern="1200" dirty="0">
                <a:solidFill>
                  <a:schemeClr val="tx1"/>
                </a:solidFill>
                <a:latin typeface="+mj-lt"/>
                <a:ea typeface="+mj-ea"/>
                <a:cs typeface="+mj-cs"/>
              </a:rPr>
              <a:t>Practice 2:</a:t>
            </a:r>
            <a:br>
              <a:rPr lang="en-US" sz="4800" kern="1200" dirty="0">
                <a:solidFill>
                  <a:schemeClr val="tx1"/>
                </a:solidFill>
                <a:latin typeface="+mj-lt"/>
                <a:ea typeface="+mj-ea"/>
                <a:cs typeface="+mj-cs"/>
              </a:rPr>
            </a:br>
            <a:r>
              <a:rPr lang="en-US" sz="4800" kern="1200" dirty="0">
                <a:solidFill>
                  <a:schemeClr val="tx1"/>
                </a:solidFill>
                <a:latin typeface="+mj-lt"/>
                <a:ea typeface="+mj-ea"/>
                <a:cs typeface="+mj-cs"/>
              </a:rPr>
              <a:t>Calculating the data</a:t>
            </a:r>
          </a:p>
        </p:txBody>
      </p:sp>
      <p:sp>
        <p:nvSpPr>
          <p:cNvPr id="22" name="Rectangle 2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Rectangle 2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Content Placeholder 4">
            <a:extLst>
              <a:ext uri="{FF2B5EF4-FFF2-40B4-BE49-F238E27FC236}">
                <a16:creationId xmlns:a16="http://schemas.microsoft.com/office/drawing/2014/main" id="{264224A6-FE3D-475C-9400-6AC44C14F60B}"/>
              </a:ext>
            </a:extLst>
          </p:cNvPr>
          <p:cNvPicPr>
            <a:picLocks noGrp="1" noChangeAspect="1"/>
          </p:cNvPicPr>
          <p:nvPr>
            <p:ph idx="1"/>
          </p:nvPr>
        </p:nvPicPr>
        <p:blipFill>
          <a:blip r:embed="rId2"/>
          <a:stretch>
            <a:fillRect/>
          </a:stretch>
        </p:blipFill>
        <p:spPr>
          <a:xfrm>
            <a:off x="5414356" y="1687076"/>
            <a:ext cx="6408836" cy="3332595"/>
          </a:xfrm>
          <a:prstGeom prst="rect">
            <a:avLst/>
          </a:prstGeom>
        </p:spPr>
      </p:pic>
    </p:spTree>
    <p:extLst>
      <p:ext uri="{BB962C8B-B14F-4D97-AF65-F5344CB8AC3E}">
        <p14:creationId xmlns:p14="http://schemas.microsoft.com/office/powerpoint/2010/main" val="972030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59FB493-B196-98B0-76FE-E3C7D6AFF24B}"/>
              </a:ext>
            </a:extLst>
          </p:cNvPr>
          <p:cNvSpPr>
            <a:spLocks noGrp="1"/>
          </p:cNvSpPr>
          <p:nvPr>
            <p:ph type="title"/>
          </p:nvPr>
        </p:nvSpPr>
        <p:spPr>
          <a:xfrm>
            <a:off x="868680" y="405575"/>
            <a:ext cx="5001768" cy="1371600"/>
          </a:xfrm>
        </p:spPr>
        <p:txBody>
          <a:bodyPr vert="horz" lIns="91440" tIns="45720" rIns="91440" bIns="45720" rtlCol="0" anchor="ctr">
            <a:normAutofit/>
          </a:bodyPr>
          <a:lstStyle/>
          <a:p>
            <a:r>
              <a:rPr lang="en-US" sz="3600"/>
              <a:t>Practice 3:</a:t>
            </a:r>
            <a:br>
              <a:rPr lang="en-US" sz="3600"/>
            </a:br>
            <a:r>
              <a:rPr lang="en-US" sz="3600"/>
              <a:t>Trading</a:t>
            </a:r>
          </a:p>
        </p:txBody>
      </p:sp>
      <p:sp>
        <p:nvSpPr>
          <p:cNvPr id="20" name="Rectangle 19">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descr="A screenshot of a computer code&#10;&#10;Description automatically generated">
            <a:extLst>
              <a:ext uri="{FF2B5EF4-FFF2-40B4-BE49-F238E27FC236}">
                <a16:creationId xmlns:a16="http://schemas.microsoft.com/office/drawing/2014/main" id="{9FB04159-085C-14E5-913E-10774E2ECC07}"/>
              </a:ext>
            </a:extLst>
          </p:cNvPr>
          <p:cNvPicPr>
            <a:picLocks noChangeAspect="1"/>
          </p:cNvPicPr>
          <p:nvPr/>
        </p:nvPicPr>
        <p:blipFill>
          <a:blip r:embed="rId2"/>
          <a:stretch>
            <a:fillRect/>
          </a:stretch>
        </p:blipFill>
        <p:spPr>
          <a:xfrm>
            <a:off x="549058" y="2333914"/>
            <a:ext cx="5431536" cy="3720601"/>
          </a:xfrm>
          <a:prstGeom prst="rect">
            <a:avLst/>
          </a:prstGeom>
        </p:spPr>
      </p:pic>
      <p:pic>
        <p:nvPicPr>
          <p:cNvPr id="5" name="Content Placeholder 8" descr="A screen shot of a computer program&#10;&#10;Description automatically generated">
            <a:extLst>
              <a:ext uri="{FF2B5EF4-FFF2-40B4-BE49-F238E27FC236}">
                <a16:creationId xmlns:a16="http://schemas.microsoft.com/office/drawing/2014/main" id="{AED4C4EC-3DEF-F394-F3C4-9339CFD289FF}"/>
              </a:ext>
            </a:extLst>
          </p:cNvPr>
          <p:cNvPicPr>
            <a:picLocks noChangeAspect="1"/>
          </p:cNvPicPr>
          <p:nvPr/>
        </p:nvPicPr>
        <p:blipFill>
          <a:blip r:embed="rId3"/>
          <a:stretch>
            <a:fillRect/>
          </a:stretch>
        </p:blipFill>
        <p:spPr>
          <a:xfrm>
            <a:off x="6211408" y="3360892"/>
            <a:ext cx="5431536" cy="1656618"/>
          </a:xfrm>
          <a:prstGeom prst="rect">
            <a:avLst/>
          </a:prstGeom>
        </p:spPr>
      </p:pic>
    </p:spTree>
    <p:extLst>
      <p:ext uri="{BB962C8B-B14F-4D97-AF65-F5344CB8AC3E}">
        <p14:creationId xmlns:p14="http://schemas.microsoft.com/office/powerpoint/2010/main" val="3206798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06310-DD43-D04E-64C5-E8A9F3CEDCD8}"/>
              </a:ext>
            </a:extLst>
          </p:cNvPr>
          <p:cNvSpPr>
            <a:spLocks noGrp="1"/>
          </p:cNvSpPr>
          <p:nvPr>
            <p:ph type="title"/>
          </p:nvPr>
        </p:nvSpPr>
        <p:spPr/>
        <p:txBody>
          <a:bodyPr/>
          <a:lstStyle/>
          <a:p>
            <a:r>
              <a:rPr lang="en-GB" dirty="0"/>
              <a:t>Results</a:t>
            </a:r>
          </a:p>
        </p:txBody>
      </p:sp>
      <p:sp>
        <p:nvSpPr>
          <p:cNvPr id="11" name="Content Placeholder 10">
            <a:extLst>
              <a:ext uri="{FF2B5EF4-FFF2-40B4-BE49-F238E27FC236}">
                <a16:creationId xmlns:a16="http://schemas.microsoft.com/office/drawing/2014/main" id="{61A698F8-3720-AE3C-C13C-B345C2FB310B}"/>
              </a:ext>
            </a:extLst>
          </p:cNvPr>
          <p:cNvSpPr>
            <a:spLocks noGrp="1"/>
          </p:cNvSpPr>
          <p:nvPr>
            <p:ph idx="1"/>
          </p:nvPr>
        </p:nvSpPr>
        <p:spPr/>
        <p:txBody>
          <a:bodyPr/>
          <a:lstStyle/>
          <a:p>
            <a:pPr marL="0" indent="0">
              <a:buNone/>
            </a:pPr>
            <a:endParaRPr lang="en-GB" dirty="0"/>
          </a:p>
        </p:txBody>
      </p:sp>
      <p:pic>
        <p:nvPicPr>
          <p:cNvPr id="13" name="Picture 12">
            <a:extLst>
              <a:ext uri="{FF2B5EF4-FFF2-40B4-BE49-F238E27FC236}">
                <a16:creationId xmlns:a16="http://schemas.microsoft.com/office/drawing/2014/main" id="{E8B9CB88-F017-650F-8158-144ACDB96AED}"/>
              </a:ext>
            </a:extLst>
          </p:cNvPr>
          <p:cNvPicPr>
            <a:picLocks noChangeAspect="1"/>
          </p:cNvPicPr>
          <p:nvPr/>
        </p:nvPicPr>
        <p:blipFill>
          <a:blip r:embed="rId2"/>
          <a:stretch>
            <a:fillRect/>
          </a:stretch>
        </p:blipFill>
        <p:spPr>
          <a:xfrm>
            <a:off x="1095829" y="1825625"/>
            <a:ext cx="9050569" cy="4351338"/>
          </a:xfrm>
          <a:prstGeom prst="rect">
            <a:avLst/>
          </a:prstGeom>
        </p:spPr>
      </p:pic>
    </p:spTree>
    <p:extLst>
      <p:ext uri="{BB962C8B-B14F-4D97-AF65-F5344CB8AC3E}">
        <p14:creationId xmlns:p14="http://schemas.microsoft.com/office/powerpoint/2010/main" val="2032165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6D439-11CC-2747-1458-D7954CC9C9DF}"/>
              </a:ext>
            </a:extLst>
          </p:cNvPr>
          <p:cNvSpPr>
            <a:spLocks noGrp="1"/>
          </p:cNvSpPr>
          <p:nvPr>
            <p:ph type="title"/>
          </p:nvPr>
        </p:nvSpPr>
        <p:spPr>
          <a:xfrm>
            <a:off x="838200" y="365125"/>
            <a:ext cx="10515600" cy="1306443"/>
          </a:xfrm>
        </p:spPr>
        <p:txBody>
          <a:bodyPr>
            <a:normAutofit/>
          </a:bodyPr>
          <a:lstStyle/>
          <a:p>
            <a:r>
              <a:rPr lang="en-GB" sz="4000" dirty="0"/>
              <a:t>Why do we still do it manually?</a:t>
            </a:r>
          </a:p>
        </p:txBody>
      </p:sp>
      <p:sp>
        <p:nvSpPr>
          <p:cNvPr id="3" name="Content Placeholder 2">
            <a:extLst>
              <a:ext uri="{FF2B5EF4-FFF2-40B4-BE49-F238E27FC236}">
                <a16:creationId xmlns:a16="http://schemas.microsoft.com/office/drawing/2014/main" id="{908854DC-19F0-805D-BC5A-AD7F0EF58B37}"/>
              </a:ext>
            </a:extLst>
          </p:cNvPr>
          <p:cNvSpPr>
            <a:spLocks noGrp="1"/>
          </p:cNvSpPr>
          <p:nvPr>
            <p:ph idx="1"/>
          </p:nvPr>
        </p:nvSpPr>
        <p:spPr>
          <a:xfrm>
            <a:off x="838200" y="1825625"/>
            <a:ext cx="4152774" cy="4303464"/>
          </a:xfrm>
        </p:spPr>
        <p:txBody>
          <a:bodyPr>
            <a:normAutofit/>
          </a:bodyPr>
          <a:lstStyle/>
          <a:p>
            <a:r>
              <a:rPr lang="en-GB" sz="2000" b="1" dirty="0"/>
              <a:t>Firstly</a:t>
            </a:r>
            <a:r>
              <a:rPr lang="en-GB" sz="2000" dirty="0"/>
              <a:t>, Yahoo Finance API is a powerful tool but sometimes it doesn’t have needed data for some stocks to be able to calculate </a:t>
            </a:r>
            <a:r>
              <a:rPr lang="en-GB" sz="2000" b="1" dirty="0"/>
              <a:t>DCF</a:t>
            </a:r>
            <a:r>
              <a:rPr lang="en-GB" sz="2000" dirty="0"/>
              <a:t> accurately. </a:t>
            </a:r>
          </a:p>
          <a:p>
            <a:r>
              <a:rPr lang="en-GB" sz="2000" dirty="0"/>
              <a:t>As a result, lots of </a:t>
            </a:r>
            <a:r>
              <a:rPr lang="en-GB" sz="2000" b="1" dirty="0">
                <a:solidFill>
                  <a:srgbClr val="FF0000"/>
                </a:solidFill>
              </a:rPr>
              <a:t>ASSUMPTIONS</a:t>
            </a:r>
            <a:r>
              <a:rPr lang="en-GB" sz="2000" dirty="0"/>
              <a:t> is being made. </a:t>
            </a:r>
          </a:p>
          <a:p>
            <a:r>
              <a:rPr lang="en-GB" sz="2000" b="1" dirty="0"/>
              <a:t>Secondly</a:t>
            </a:r>
            <a:r>
              <a:rPr lang="en-GB" sz="2000" dirty="0"/>
              <a:t>, relevance of the data from the API. Currently it allows to access data only for the last </a:t>
            </a:r>
            <a:r>
              <a:rPr lang="en-GB" sz="2000" b="1" dirty="0"/>
              <a:t>3 </a:t>
            </a:r>
            <a:r>
              <a:rPr lang="en-GB" sz="2000" dirty="0"/>
              <a:t>years and only annually.</a:t>
            </a:r>
          </a:p>
        </p:txBody>
      </p:sp>
      <p:pic>
        <p:nvPicPr>
          <p:cNvPr id="1026" name="Picture 2" descr="Accounting - Oveview, Importance, Types, Careers">
            <a:extLst>
              <a:ext uri="{FF2B5EF4-FFF2-40B4-BE49-F238E27FC236}">
                <a16:creationId xmlns:a16="http://schemas.microsoft.com/office/drawing/2014/main" id="{5EE8A080-81EC-8680-3C8E-D6A6C970E8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12" r="-2" b="-2"/>
          <a:stretch/>
        </p:blipFill>
        <p:spPr bwMode="auto">
          <a:xfrm>
            <a:off x="5183500" y="1904282"/>
            <a:ext cx="6170299" cy="4224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284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A1D83-8B93-4A3F-72D4-A03F91F856F2}"/>
              </a:ext>
            </a:extLst>
          </p:cNvPr>
          <p:cNvSpPr>
            <a:spLocks noGrp="1"/>
          </p:cNvSpPr>
          <p:nvPr>
            <p:ph type="title"/>
          </p:nvPr>
        </p:nvSpPr>
        <p:spPr>
          <a:xfrm>
            <a:off x="411480" y="987552"/>
            <a:ext cx="4485861" cy="1088136"/>
          </a:xfrm>
        </p:spPr>
        <p:txBody>
          <a:bodyPr anchor="b">
            <a:normAutofit/>
          </a:bodyPr>
          <a:lstStyle/>
          <a:p>
            <a:r>
              <a:rPr lang="en-GB" sz="3400"/>
              <a:t>Future considerations</a:t>
            </a:r>
          </a:p>
        </p:txBody>
      </p:sp>
      <p:sp>
        <p:nvSpPr>
          <p:cNvPr id="3" name="Content Placeholder 2">
            <a:extLst>
              <a:ext uri="{FF2B5EF4-FFF2-40B4-BE49-F238E27FC236}">
                <a16:creationId xmlns:a16="http://schemas.microsoft.com/office/drawing/2014/main" id="{9D1215CD-A560-166C-5A51-2BBCA2A7EEF9}"/>
              </a:ext>
            </a:extLst>
          </p:cNvPr>
          <p:cNvSpPr>
            <a:spLocks noGrp="1"/>
          </p:cNvSpPr>
          <p:nvPr>
            <p:ph idx="1"/>
          </p:nvPr>
        </p:nvSpPr>
        <p:spPr>
          <a:xfrm>
            <a:off x="411479" y="2688336"/>
            <a:ext cx="4498848" cy="3584448"/>
          </a:xfrm>
        </p:spPr>
        <p:txBody>
          <a:bodyPr anchor="t">
            <a:normAutofit/>
          </a:bodyPr>
          <a:lstStyle/>
          <a:p>
            <a:r>
              <a:rPr lang="en-GB" sz="1800"/>
              <a:t>Potentially if more powerful tool will be used.  You would be able to input the name of the stock, push the button and have fair value. </a:t>
            </a:r>
          </a:p>
        </p:txBody>
      </p:sp>
      <p:pic>
        <p:nvPicPr>
          <p:cNvPr id="5" name="Picture 4" descr="A person using a tablet with a staircase leading up to the sky&#10;&#10;Description automatically generated">
            <a:extLst>
              <a:ext uri="{FF2B5EF4-FFF2-40B4-BE49-F238E27FC236}">
                <a16:creationId xmlns:a16="http://schemas.microsoft.com/office/drawing/2014/main" id="{41BC6F11-33B9-C5EA-4F6F-4FEBF2153468}"/>
              </a:ext>
            </a:extLst>
          </p:cNvPr>
          <p:cNvPicPr>
            <a:picLocks noChangeAspect="1"/>
          </p:cNvPicPr>
          <p:nvPr/>
        </p:nvPicPr>
        <p:blipFill rotWithShape="1">
          <a:blip r:embed="rId2">
            <a:extLst>
              <a:ext uri="{28A0092B-C50C-407E-A947-70E740481C1C}">
                <a14:useLocalDpi xmlns:a14="http://schemas.microsoft.com/office/drawing/2010/main" val="0"/>
              </a:ext>
            </a:extLst>
          </a:blip>
          <a:srcRect r="1" b="378"/>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Tree>
    <p:extLst>
      <p:ext uri="{BB962C8B-B14F-4D97-AF65-F5344CB8AC3E}">
        <p14:creationId xmlns:p14="http://schemas.microsoft.com/office/powerpoint/2010/main" val="20816849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211</TotalTime>
  <Words>209</Words>
  <Application>Microsoft Office PowerPoint</Application>
  <PresentationFormat>Widescreen</PresentationFormat>
  <Paragraphs>19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Automated fundamental analysis in quant</vt:lpstr>
      <vt:lpstr>Setting the Stage: Purpose &amp; Strategy Snapshot</vt:lpstr>
      <vt:lpstr>How it works?</vt:lpstr>
      <vt:lpstr>Practice 1:  Getting the data</vt:lpstr>
      <vt:lpstr>Practice 2: Calculating the data</vt:lpstr>
      <vt:lpstr>Practice 3: Trading</vt:lpstr>
      <vt:lpstr>Results</vt:lpstr>
      <vt:lpstr>Why do we still do it manually?</vt:lpstr>
      <vt:lpstr>Future considerations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fundamental analysis in quant</dc:title>
  <dc:creator>Даниїл Непийвода</dc:creator>
  <cp:lastModifiedBy>Даниїл Непийвода</cp:lastModifiedBy>
  <cp:revision>1</cp:revision>
  <dcterms:created xsi:type="dcterms:W3CDTF">2024-04-04T13:20:43Z</dcterms:created>
  <dcterms:modified xsi:type="dcterms:W3CDTF">2024-04-04T17:48:25Z</dcterms:modified>
</cp:coreProperties>
</file>